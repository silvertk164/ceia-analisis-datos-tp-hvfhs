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F2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CEIA · FIUBA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Análisis</a:t>
            </a:r>
          </a:p>
          <a:p>
            <a:pPr algn="l">
              <a:spcAft>
                <a:spcPts val="1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 Datos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Trabajo Práctico Integrador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3B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2040" y="1417320"/>
            <a:ext cx="6766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0F172A"/>
                </a:solidFill>
                <a:latin typeface="Calibri"/>
              </a:rPr>
              <a:t>Uso de High-Volume</a:t>
            </a:r>
          </a:p>
          <a:p>
            <a:pPr algn="l">
              <a:spcAft>
                <a:spcPts val="100"/>
              </a:spcAft>
            </a:pPr>
            <a:r>
              <a:rPr sz="3200" b="1" i="0">
                <a:solidFill>
                  <a:srgbClr val="0F172A"/>
                </a:solidFill>
                <a:latin typeface="Calibri"/>
              </a:rPr>
              <a:t>For-Hire Services (HVFHS)</a:t>
            </a:r>
          </a:p>
          <a:p>
            <a:pPr algn="l">
              <a:spcAft>
                <a:spcPts val="1200"/>
              </a:spcAft>
            </a:pPr>
            <a:r>
              <a:rPr sz="3200" b="1" i="0">
                <a:solidFill>
                  <a:srgbClr val="3B82F6"/>
                </a:solidFill>
                <a:latin typeface="Calibri"/>
              </a:rPr>
              <a:t>en USA · Agosto 2025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Análisis exploratorio y preparación de datos para un problema de Machine Learning supervisado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892040" y="3977639"/>
            <a:ext cx="1783080" cy="40233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G R U P O   0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4617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94A3B8"/>
                </a:solidFill>
                <a:latin typeface="Calibri"/>
              </a:rPr>
              <a:t>PRESENTADO POR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Silvert Kevin QUISPE PACOMPIA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4526280"/>
            <a:ext cx="2926080" cy="9601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4654296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64748B"/>
                </a:solidFill>
                <a:latin typeface="Calibri"/>
              </a:rPr>
              <a:t>REPOSITORIO</a:t>
            </a:r>
          </a:p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Calibri"/>
              </a:rPr>
              <a:t>github.com/SilvertK164/</a:t>
            </a:r>
          </a:p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Calibri"/>
              </a:rPr>
              <a:t>ceia-analisis-datos-tp-hvfhs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82F6"/>
                </a:solidFill>
                <a:latin typeface="Calibri"/>
              </a:rPr>
              <a:t>1  ·  </a:t>
            </a:r>
            <a:r>
              <a:rPr sz="1150" b="1">
                <a:solidFill>
                  <a:srgbClr val="94A3B8"/>
                </a:solidFill>
                <a:latin typeface="Calibri"/>
              </a:rPr>
              <a:t>IDENTIFICACIÓN DEL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Calibri"/>
              </a:rPr>
              <a:t>Qué contiene y de dónde viene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292608"/>
            <a:ext cx="1188720" cy="3474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GRUPO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HVFHS · Nueva York · Agosto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3825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1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1274552" cy="713232"/>
          </a:xfrm>
          <a:prstGeom prst="rect">
            <a:avLst/>
          </a:prstGeom>
          <a:solidFill>
            <a:srgbClr val="0F2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08176"/>
            <a:ext cx="10725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Registro oficial de viajes de alto volumen en Nueva York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7D8F5"/>
                </a:solidFill>
                <a:latin typeface="Calibri"/>
              </a:rPr>
              <a:t>Cada fila es un viaje despachado por Uber o Lyft: cuándo se pidió, cuándo subió el pasajero, cuánto duró, cuánto costó y cuánto cobró el conductor.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12848"/>
            <a:ext cx="26700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26700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1D4ED8"/>
                </a:solidFill>
                <a:latin typeface="Calibri"/>
              </a:rPr>
              <a:t>19.271.461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viajes registrados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2212848"/>
            <a:ext cx="26700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2313432"/>
            <a:ext cx="26700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25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variables por viaje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12848"/>
            <a:ext cx="26700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2313432"/>
            <a:ext cx="26700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70,4 %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Uber  (HV0003)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984" y="2212848"/>
            <a:ext cx="26700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2313432"/>
            <a:ext cx="26700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E85D6B"/>
                </a:solidFill>
                <a:latin typeface="Calibri"/>
              </a:rPr>
              <a:t>29,6 %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Lyft  (HV0005)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64992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Origen y ventana temporal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Datos publicados por la Comisión de Taxis y Limusinas de Nueva York (TLC), con un diccionario oficial que define cada columna.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Se eligió agosto de 2025. El año completo son unos 240 millones de filas en 12 archivos de 480 MB, y trabajar con un solo mes fue sugerencia de la cátedra.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Agosto por sí solo supera los 19 millones de viajes: alcanza para todas las consignas.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364992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Tipos de variable  (Clase 1, slides 37-38)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11 cuantitativas: distancia, duración, tarifa base, peajes, impuestos, recargos, propina y pago al conductor.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14 categóricas: la empresa, las dos bases, las zonas de origen y destino, las cuatro marcas de tiempo y los cinco indicadores de sí/no.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Las variables binarias son un caso particular de las categóricas nominales.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364992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Una corrección necesaria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PULocationID y DOLocationID vienen guardadas como números enteros, pero no son cantidades: son etiquetas de zona.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La zona 138 no es «más» que la zona 69. Tratarlas como numéricas haría que el modelo les asigne un orden que no existe.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Las reclasificamos como categóricas nominales antes de seguir.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82F6"/>
                </a:solidFill>
                <a:latin typeface="Calibri"/>
              </a:rPr>
              <a:t>2  ·  </a:t>
            </a:r>
            <a:r>
              <a:rPr sz="1150" b="1">
                <a:solidFill>
                  <a:srgbClr val="94A3B8"/>
                </a:solidFill>
                <a:latin typeface="Calibri"/>
              </a:rPr>
              <a:t>EXPLORACIÓN Y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Calibri"/>
              </a:rPr>
              <a:t>Patrones temporales de uso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292608"/>
            <a:ext cx="1188720" cy="3474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GRUPO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HVFHS · Nueva York · Agosto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3825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2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1274552" cy="713232"/>
          </a:xfrm>
          <a:prstGeom prst="rect">
            <a:avLst/>
          </a:prstGeom>
          <a:solidFill>
            <a:srgbClr val="0F2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08176"/>
            <a:ext cx="10725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Cada gráfico se eligió según el tipo de variable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7D8F5"/>
                </a:solidFill>
                <a:latin typeface="Calibri"/>
              </a:rPr>
              <a:t>Barras para las categóricas, líneas para lo que evoluciona en el tiempo, histograma para las numéricas y boxplot para comparar una numérica entre grupos.</a:t>
            </a:r>
          </a:p>
        </p:txBody>
      </p:sp>
      <p:pic>
        <p:nvPicPr>
          <p:cNvPr id="10" name="Picture 9" descr="02_viajes_por_dia_sem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4190649" cy="2057400"/>
          </a:xfrm>
          <a:prstGeom prst="rect">
            <a:avLst/>
          </a:prstGeom>
        </p:spPr>
      </p:pic>
      <p:pic>
        <p:nvPicPr>
          <p:cNvPr id="11" name="Picture 10" descr="01_viajes_por_h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194560"/>
            <a:ext cx="5149830" cy="2057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43484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Patrón semanal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Sábado 3.538.584 viajes (18,4 %) contra lunes 2.134.937 (11,1 %): el sábado concentra un 66 % más.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El orden de los días es creciente de lunes a sábado, sin excepciones.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443484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Patrón horario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El mínimo es a las 3 de la mañana, con 302.466 viajes, y el máximo a las 18 h, con 1.118.439.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Hay un repunte matinal a las 8-9 h, pero es mucho menor que el vespertino, y la actividad sigue alta pasada la medianoche.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443484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Qué se concluye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Los dos patrones apuntan a lo mismo: el servicio se usa para ocio, no para ir a trabajar. Si fuera laboral, el pico estaría entre semana y a la mañana.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La demanda está muy repartida: 262 zonas de origen y ninguna supera el 2,2 %.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82F6"/>
                </a:solidFill>
                <a:latin typeface="Calibri"/>
              </a:rPr>
              <a:t>3  ·  </a:t>
            </a:r>
            <a:r>
              <a:rPr sz="1150" b="1">
                <a:solidFill>
                  <a:srgbClr val="94A3B8"/>
                </a:solidFill>
                <a:latin typeface="Calibri"/>
              </a:rPr>
              <a:t>CALIDAD DE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Calibri"/>
              </a:rPr>
              <a:t>Datos faltantes y su clasificación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292608"/>
            <a:ext cx="1188720" cy="3474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GRUPO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HVFHS · Nueva York · Agosto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3825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3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1274552" cy="713232"/>
          </a:xfrm>
          <a:prstGeom prst="rect">
            <a:avLst/>
          </a:prstGeom>
          <a:solidFill>
            <a:srgbClr val="0F2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08176"/>
            <a:ext cx="10725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 columna originating_base_num está vacía en el 29,5 % de los registros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7D8F5"/>
                </a:solidFill>
                <a:latin typeface="Calibri"/>
              </a:rPr>
              <a:t>No alcanza con contarlos: hay que determinar de qué tipo son, porque de eso depende el tratamiento. Aplicamos el método de la Clase 3, slide 55.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2340864"/>
            <a:ext cx="329184" cy="32918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322576"/>
            <a:ext cx="286207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Descartar MCAR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Agrupar de distintas maneras y comparar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219456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34840" y="2340864"/>
            <a:ext cx="329184" cy="32918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2322576"/>
            <a:ext cx="286207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Evaluar si es estructural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Consultar la documentación de recolección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194560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66176" y="2340864"/>
            <a:ext cx="329184" cy="329184"/>
          </a:xfrm>
          <a:prstGeom prst="ellipse">
            <a:avLst/>
          </a:prstGeom>
          <a:solidFill>
            <a:srgbClr val="109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322576"/>
            <a:ext cx="286207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Clasificar como MAR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Se explica por otra columna: la empresa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200400"/>
            <a:ext cx="178308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236976"/>
            <a:ext cx="1783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Calibri"/>
              </a:rPr>
              <a:t>Agrupando por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50008" y="3200400"/>
            <a:ext cx="160020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0008" y="3236976"/>
            <a:ext cx="1600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Calibri"/>
              </a:rPr>
              <a:t>% de faltantes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493008"/>
            <a:ext cx="1783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529584"/>
            <a:ext cx="1783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día de la semana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50008" y="3493008"/>
            <a:ext cx="1600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0008" y="3529584"/>
            <a:ext cx="1600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28 % – 31 %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767328"/>
            <a:ext cx="1783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803904"/>
            <a:ext cx="1783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viaje compartido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767328"/>
            <a:ext cx="1600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50008" y="3803904"/>
            <a:ext cx="1600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parejo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041648"/>
            <a:ext cx="1783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078224"/>
            <a:ext cx="1783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E85D6B"/>
                </a:solidFill>
                <a:latin typeface="Calibri"/>
              </a:rPr>
              <a:t>empresa: Uber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50008" y="4041648"/>
            <a:ext cx="1600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4078224"/>
            <a:ext cx="1600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E85D6B"/>
                </a:solidFill>
                <a:latin typeface="Calibri"/>
              </a:rPr>
              <a:t>0,00 %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315968"/>
            <a:ext cx="1783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52544"/>
            <a:ext cx="1783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E85D6B"/>
                </a:solidFill>
                <a:latin typeface="Calibri"/>
              </a:rPr>
              <a:t>empresa: Lyft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50008" y="4315968"/>
            <a:ext cx="1600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352544"/>
            <a:ext cx="1600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E85D6B"/>
                </a:solidFill>
                <a:latin typeface="Calibri"/>
              </a:rPr>
              <a:t>99,64 %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7091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Resultado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Es MCAR solo si el porcentaje es parejo al agrupar de distintas maneras. Con la empresa no lo es en absoluto: se descarta MCAR.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98264" y="320040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Lo que dice la documentación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El diccionario del TLC define el campo como «Base number of the base that received the original trip request», y nada más.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No menciona a Lyft, así que la documentación no confirma que sea estructural.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Lo verificamos contra los datos: si el dato no existiera, debería faltar en el 100 % de los viajes de Lyft.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Encontramos que Lyft sí lo informa en 20.348 viajes, el 0,36 % de los suyos. El dato existe. No es estructural.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200400"/>
            <a:ext cx="350215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Clasificación final: MAR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Queda la definición de la Clase 3 slide 52: «la falta del valor se relaciona con los datos de otras columnas». Esa columna es la empresa.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Es el mismo esquema que el ejemplo de la clase, donde el sueldo faltaba según la edad del encuestado.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Tratamiento: se descarta la columna, pero por redundante y no por estructural. Saber que falta equivale a saber que el viaje es de Lyft, y eso ya lo informa la variable empresa.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82F6"/>
                </a:solidFill>
                <a:latin typeface="Calibri"/>
              </a:rPr>
              <a:t>4  ·  </a:t>
            </a:r>
            <a:r>
              <a:rPr sz="1150" b="1">
                <a:solidFill>
                  <a:srgbClr val="94A3B8"/>
                </a:solidFill>
                <a:latin typeface="Calibri"/>
              </a:rPr>
              <a:t>CALIDAD DE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Calibri"/>
              </a:rPr>
              <a:t>Errores, valores atípicos y asimetría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292608"/>
            <a:ext cx="1188720" cy="3474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GRUPO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HVFHS · Nueva York · Agosto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3825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4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1274552" cy="713232"/>
          </a:xfrm>
          <a:prstGeom prst="rect">
            <a:avLst/>
          </a:prstGeom>
          <a:solidFill>
            <a:srgbClr val="0F2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08176"/>
            <a:ext cx="10725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Un error y un valor atípico no son lo mismo, y no se tratan igual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7D8F5"/>
                </a:solidFill>
                <a:latin typeface="Calibri"/>
              </a:rPr>
              <a:t>El error es un valor imposible y se detecta con conocimiento del dominio. El outlier es raro pero posible y se detecta con estadística.</a:t>
            </a:r>
          </a:p>
        </p:txBody>
      </p:sp>
      <p:pic>
        <p:nvPicPr>
          <p:cNvPr id="10" name="Picture 9" descr="03_distribucion_distancia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76272"/>
            <a:ext cx="5294376" cy="1783080"/>
          </a:xfrm>
          <a:prstGeom prst="rect">
            <a:avLst/>
          </a:prstGeom>
        </p:spPr>
      </p:pic>
      <p:pic>
        <p:nvPicPr>
          <p:cNvPr id="11" name="Picture 10" descr="07_boxplots_outl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87952"/>
            <a:ext cx="5302669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2176272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Errores encontrados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espera negativa: 1,164 %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tarifa igual a cero: 0,962 %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tarifa negativa: 772 casos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distancia o duración cero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Se eliminan: son imposibles. En total se depuró el 2,12 % de las filas.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8552" y="2176272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Outliers que se conservan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Los viajes de más de 100 millas existen: son traslados a otros estados.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Las tarifas altas corresponden a esos viajes largos.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Eliminarlos sería perder información válida.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160520"/>
            <a:ext cx="5696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Por qué recortamos por percentil y no por el criterio IQR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El método IQR de la Clase 3 marca como atípico todo lo que quede fuera de Q1 − 1,5×IQR y Q3 + 1,5×IQR. Aplicado acá señala entre el 4,5 % y el 7 % de cada variable, es decir cientos de miles de viajes perfectamente válidos.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El motivo es que el IQR supone una distribución aproximadamente simétrica, y el gráfico de arriba muestra que las nuestras no lo son: en escala normal todo se amontona contra el eje, y recién en escala logarítmica aparece la forma real.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Por eso el IQR se usa como diagnóstico, y para el tratamiento se recorta al percentil 99, que se adapta mejor a distribuciones asimétricas.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82F6"/>
                </a:solidFill>
                <a:latin typeface="Calibri"/>
              </a:rPr>
              <a:t>5  ·  </a:t>
            </a:r>
            <a:r>
              <a:rPr sz="1150" b="1">
                <a:solidFill>
                  <a:srgbClr val="94A3B8"/>
                </a:solidFill>
                <a:latin typeface="Calibri"/>
              </a:rPr>
              <a:t>PROBLEMA DE ML Y PREPARACIÓN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Calibri"/>
              </a:rPr>
              <a:t>Variable objetivo y flujo de preparación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292608"/>
            <a:ext cx="1188720" cy="3474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GRUPO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HVFHS · Nueva York · Agosto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3825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5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1274552" cy="713232"/>
          </a:xfrm>
          <a:prstGeom prst="rect">
            <a:avLst/>
          </a:prstGeom>
          <a:solidFill>
            <a:srgbClr val="0F2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08176"/>
            <a:ext cx="10725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Problema planteado: clasificación binaria  ·  ¿el pasajero dejará propina?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7D8F5"/>
                </a:solidFill>
                <a:latin typeface="Calibri"/>
              </a:rPr>
              <a:t>Variable objetivo dio_propina = tips &gt; 0. Se predeciría al terminar el viaje, cuando ya se conocen la distancia, la duración, la tarifa y las zonas.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371600" cy="73152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SPLIT  80/20</a:t>
            </a:r>
          </a:p>
        </p:txBody>
      </p:sp>
      <p:sp>
        <p:nvSpPr>
          <p:cNvPr id="11" name="Chevron 10"/>
          <p:cNvSpPr/>
          <p:nvPr/>
        </p:nvSpPr>
        <p:spPr>
          <a:xfrm>
            <a:off x="1975104" y="2194560"/>
            <a:ext cx="141732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</a:rPr>
              <a:t>Nulos</a:t>
            </a:r>
          </a:p>
        </p:txBody>
      </p:sp>
      <p:sp>
        <p:nvSpPr>
          <p:cNvPr id="12" name="Chevron 11"/>
          <p:cNvSpPr/>
          <p:nvPr/>
        </p:nvSpPr>
        <p:spPr>
          <a:xfrm>
            <a:off x="3392424" y="2194560"/>
            <a:ext cx="141732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</a:rPr>
              <a:t>Outliers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9744" y="2194560"/>
            <a:ext cx="141732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</a:rPr>
              <a:t>Discretizar</a:t>
            </a:r>
          </a:p>
        </p:txBody>
      </p:sp>
      <p:sp>
        <p:nvSpPr>
          <p:cNvPr id="14" name="Chevron 13"/>
          <p:cNvSpPr/>
          <p:nvPr/>
        </p:nvSpPr>
        <p:spPr>
          <a:xfrm>
            <a:off x="6227064" y="2194560"/>
            <a:ext cx="141732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</a:rPr>
              <a:t>Codificar</a:t>
            </a:r>
          </a:p>
        </p:txBody>
      </p:sp>
      <p:sp>
        <p:nvSpPr>
          <p:cNvPr id="15" name="Chevron 14"/>
          <p:cNvSpPr/>
          <p:nvPr/>
        </p:nvSpPr>
        <p:spPr>
          <a:xfrm>
            <a:off x="7644384" y="2194560"/>
            <a:ext cx="141732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</a:rPr>
              <a:t>Escalar</a:t>
            </a:r>
          </a:p>
        </p:txBody>
      </p:sp>
      <p:sp>
        <p:nvSpPr>
          <p:cNvPr id="16" name="Chevron 15"/>
          <p:cNvSpPr/>
          <p:nvPr/>
        </p:nvSpPr>
        <p:spPr>
          <a:xfrm>
            <a:off x="9061704" y="2194560"/>
            <a:ext cx="1417320" cy="731520"/>
          </a:xfrm>
          <a:prstGeom prst="chevron">
            <a:avLst/>
          </a:prstGeom>
          <a:solidFill>
            <a:srgbClr val="E85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Balancear</a:t>
            </a:r>
          </a:p>
        </p:txBody>
      </p:sp>
      <p:sp>
        <p:nvSpPr>
          <p:cNvPr id="17" name="Chevron 16"/>
          <p:cNvSpPr/>
          <p:nvPr/>
        </p:nvSpPr>
        <p:spPr>
          <a:xfrm>
            <a:off x="10479024" y="2194560"/>
            <a:ext cx="141732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Calibri"/>
              </a:rPr>
              <a:t>Reducir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2980944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Sobre TRAIN se calcula y se aplica   ·   sobre TEST solo se aplica   ·   el balanceo no se hace sobre TEST  (Clase 7, slides 5 y 26)</a:t>
            </a:r>
          </a:p>
        </p:txBody>
      </p:sp>
      <p:pic>
        <p:nvPicPr>
          <p:cNvPr id="19" name="Picture 18" descr="09_balanceo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01568"/>
            <a:ext cx="5267886" cy="15727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5120640"/>
            <a:ext cx="5532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Por qué el split va antes que todo lo demás  ·  Clase 5, slide 5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«Si usáramos el dataset completo cuando hacemos una transformación, estaríamos contaminando el dataset de entrenamiento con pistas de los datos de test.» TRAIN quedó en 800.000 filas y TEST en 200.000, con la clase positiva en 18,625 % en ambos: la estratificación funcionó.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401568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Decisiones de transformación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Faltantes: descartar la columna redundante.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Outliers: recorte al percentil 99.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hora y día: codificación cíclica con seno y coseno, para que las 23 h y las 0 h queden contiguas.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Zonas: frequency encoding. Con one-hot, 262 categorías darían más de 500 columnas (Clase 4, slide 42).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Escalado: estandarización, que es la que PCA requiere.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401568"/>
            <a:ext cx="258775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Balance de clases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La target está desbalanceada 18,5 % contra 81,5 %, una relación de 1 a 4,4.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No es extremo: la Clase 5 slide 27 reserva ese término para casos de 1 a 1000.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Comparamos SMOTE con undersampling y elegimos undersampling, porque con 800.000 filas de entrenamiento sobran datos y no hace falta generar filas sintéticas.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TEST conserva la proporción real para que las métricas sean honestas.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82F6"/>
                </a:solidFill>
                <a:latin typeface="Calibri"/>
              </a:rPr>
              <a:t>6  ·  </a:t>
            </a:r>
            <a:r>
              <a:rPr sz="1150" b="1">
                <a:solidFill>
                  <a:srgbClr val="94A3B8"/>
                </a:solidFill>
                <a:latin typeface="Calibri"/>
              </a:rPr>
              <a:t>REDUCCIÓN DE DIMENSIONALIDAD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Calibri"/>
              </a:rPr>
              <a:t>Selección de features: relevancia y redundancia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292608"/>
            <a:ext cx="1188720" cy="3474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GRUPO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HVFHS · Nueva York · Agosto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3825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6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1274552" cy="713232"/>
          </a:xfrm>
          <a:prstGeom prst="rect">
            <a:avLst/>
          </a:prstGeom>
          <a:solidFill>
            <a:srgbClr val="0F2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08176"/>
            <a:ext cx="10725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Dos criterios para descartar variables  ·  Clase 7, slide 7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7D8F5"/>
                </a:solidFill>
                <a:latin typeface="Calibri"/>
              </a:rPr>
              <a:t>Se buscan las que dicen lo mismo que otra (redundancia) y las que no aportan nada sobre la variable objetivo (relevancia).</a:t>
            </a:r>
          </a:p>
        </p:txBody>
      </p:sp>
      <p:pic>
        <p:nvPicPr>
          <p:cNvPr id="10" name="Picture 9" descr="10_matriz_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40"/>
            <a:ext cx="5176179" cy="1828800"/>
          </a:xfrm>
          <a:prstGeom prst="rect">
            <a:avLst/>
          </a:prstGeom>
        </p:spPr>
      </p:pic>
      <p:pic>
        <p:nvPicPr>
          <p:cNvPr id="11" name="Picture 10" descr="11_relevancia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148840"/>
            <a:ext cx="3216916" cy="2880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16052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Redundancia: 6 pares por encima de 0,80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El par más fuerte es base_passenger_fare con driver_pay, en 0,935: lo que cobra el conductor se calcula sobre lo que paga el pasajero.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También trip_miles con driver_pay (0,926) y con duracion_min (0,842).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De cada grupo se conserva un solo representante.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16052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Relevancia: tres métodos comparados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ANOVA para las numéricas, Chi² para las categóricas e Información Mutua para ambas, todos con SelectKBest y normalizados en el mapa de la derecha.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Las frecuencias de zona resultaron las dos variables más informativas, con 0,039 y 0,033 de información mutua.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14884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Resultado: de 19 variables a 11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Se descartaron 3 por redundancia y 5 por irrelevancia.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Dos detalles del procedimiento: la discretización que habíamos creado quedó afuera, porque tenía 0,97 de correlación de Spearman con la variable continua; y las variables cíclicas se evaluaron de a pares, porque descartar el seno y conservar el coseno rompería la codificación.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82F6"/>
                </a:solidFill>
                <a:latin typeface="Calibri"/>
              </a:rPr>
              <a:t>7  ·  </a:t>
            </a:r>
            <a:r>
              <a:rPr sz="1150" b="1">
                <a:solidFill>
                  <a:srgbClr val="94A3B8"/>
                </a:solidFill>
                <a:latin typeface="Calibri"/>
              </a:rPr>
              <a:t>RESULTADO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Calibri"/>
              </a:rPr>
              <a:t>PCA, datasets finales y 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292608"/>
            <a:ext cx="1188720" cy="3474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GRUPO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HVFHS · Nueva York · Agosto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3825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7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1274552" cy="713232"/>
          </a:xfrm>
          <a:prstGeom prst="rect">
            <a:avLst/>
          </a:prstGeom>
          <a:solidFill>
            <a:srgbClr val="0F2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08176"/>
            <a:ext cx="10725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Extracción de features con PCA  ·  Clase 7, slides 10 a 25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7D8F5"/>
                </a:solidFill>
                <a:latin typeface="Calibri"/>
              </a:rPr>
              <a:t>A diferencia de la selección, PCA no elige variables: crea variables nuevas combinando las originales. Comprime, pero los componentes ya no son interpretables.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261872" cy="1051560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10128"/>
            <a:ext cx="1261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variables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iniciales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764792" y="2651760"/>
            <a:ext cx="237744" cy="13716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48256" y="2276856"/>
            <a:ext cx="1261872" cy="8869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8256" y="3310128"/>
            <a:ext cx="1261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tras la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selección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355848" y="2651760"/>
            <a:ext cx="237744" cy="13716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39312" y="2359152"/>
            <a:ext cx="1261872" cy="722376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310128"/>
            <a:ext cx="1261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componentes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de PCA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19456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295144"/>
            <a:ext cx="16916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109B76"/>
                </a:solidFill>
                <a:latin typeface="Calibri"/>
              </a:rPr>
              <a:t>80,1 %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varianza retenida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19456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295144"/>
            <a:ext cx="16916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C2760C"/>
                </a:solidFill>
                <a:latin typeface="Calibri"/>
              </a:rPr>
              <a:t>28,8 %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explica solo PC1</a:t>
            </a:r>
          </a:p>
        </p:txBody>
      </p:sp>
      <p:pic>
        <p:nvPicPr>
          <p:cNvPr id="22" name="Picture 21" descr="12_pca_scree_varian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12848"/>
            <a:ext cx="3336424" cy="11704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3977639"/>
            <a:ext cx="3794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Ventajas y desventajas de la reducción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A favor: los componentes son ortogonales entre sí, así que por construcción no hay redundancia, y baja el costo de cómputo.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En contra: se pierde el 20 % de la varianza y, sobre todo, la interpretabilidad. «PC1» no le dice nada a nadie.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PCA además supone relaciones lineales (Clase 7, slide 12).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77639"/>
            <a:ext cx="3794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Por qué comprimió tan poco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El primer componente explica solo el 28,8 %, cuando en un caso favorable los primeros dos o tres concentran casi todo.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PCA únicamente puede comprimir lo que está correlacionado, y la selección previa ya había eliminado la redundancia: le quitamos justo lo que podía comprimir.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Selección y extracción compiten entre sí. Para este trabajo conviene la versión seleccionada, que es interpretable.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703320"/>
            <a:ext cx="3227832" cy="2560320"/>
          </a:xfrm>
          <a:prstGeom prst="roundRect">
            <a:avLst/>
          </a:prstGeom>
          <a:solidFill>
            <a:srgbClr val="0F2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3822191"/>
            <a:ext cx="2788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3B82F6"/>
                </a:solidFill>
                <a:latin typeface="Calibri"/>
              </a:rPr>
              <a:t>DATASETS FINALES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train  298.004 filas, balanceado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test  200.000 filas, 18,62 % real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0 faltantes  ·  sin fuga de datos</a:t>
            </a:r>
          </a:p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3B82F6"/>
                </a:solidFill>
                <a:latin typeface="Calibri"/>
              </a:rPr>
              <a:t>CONCLUSIONES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—  El uso es de ocio, no laboral.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—  La calidad del dato depende de quién lo carga: Uber y Lyft no completan los mismos campos.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—  Ninguna variable predice bien la propina, y saberlo antes de entrenar también es un resultado.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